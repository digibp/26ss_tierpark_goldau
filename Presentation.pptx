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57" r:id="rId4"/>
    <p:sldId id="267" r:id="rId5"/>
    <p:sldId id="268" r:id="rId6"/>
    <p:sldId id="269" r:id="rId7"/>
    <p:sldId id="270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FFCC00"/>
    <a:srgbClr val="0F8A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3922" autoAdjust="0"/>
  </p:normalViewPr>
  <p:slideViewPr>
    <p:cSldViewPr snapToGrid="0" snapToObjects="1">
      <p:cViewPr varScale="1">
        <p:scale>
          <a:sx n="91" d="100"/>
          <a:sy n="91" d="100"/>
        </p:scale>
        <p:origin x="12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ethan Nathan (s)" userId="0f5bfc72-6e58-4b9d-b756-1f6026538ee5" providerId="ADAL" clId="{648DECDB-0F43-48AD-800F-5E7A0F5D00A3}"/>
    <pc:docChg chg="undo custSel modSld">
      <pc:chgData name="Keethan Nathan (s)" userId="0f5bfc72-6e58-4b9d-b756-1f6026538ee5" providerId="ADAL" clId="{648DECDB-0F43-48AD-800F-5E7A0F5D00A3}" dt="2026-05-22T07:17:21.841" v="21" actId="20577"/>
      <pc:docMkLst>
        <pc:docMk/>
      </pc:docMkLst>
      <pc:sldChg chg="modSp mod">
        <pc:chgData name="Keethan Nathan (s)" userId="0f5bfc72-6e58-4b9d-b756-1f6026538ee5" providerId="ADAL" clId="{648DECDB-0F43-48AD-800F-5E7A0F5D00A3}" dt="2026-05-22T07:17:21.841" v="21" actId="20577"/>
        <pc:sldMkLst>
          <pc:docMk/>
          <pc:sldMk cId="0" sldId="256"/>
        </pc:sldMkLst>
        <pc:spChg chg="mod">
          <ac:chgData name="Keethan Nathan (s)" userId="0f5bfc72-6e58-4b9d-b756-1f6026538ee5" providerId="ADAL" clId="{648DECDB-0F43-48AD-800F-5E7A0F5D00A3}" dt="2026-05-22T07:17:21.841" v="21" actId="20577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Keethan Nathan (s)" userId="0f5bfc72-6e58-4b9d-b756-1f6026538ee5" providerId="ADAL" clId="{648DECDB-0F43-48AD-800F-5E7A0F5D00A3}" dt="2026-05-22T07:05:37.962" v="18" actId="1076"/>
        <pc:sldMkLst>
          <pc:docMk/>
          <pc:sldMk cId="0" sldId="257"/>
        </pc:sldMkLst>
        <pc:spChg chg="mod">
          <ac:chgData name="Keethan Nathan (s)" userId="0f5bfc72-6e58-4b9d-b756-1f6026538ee5" providerId="ADAL" clId="{648DECDB-0F43-48AD-800F-5E7A0F5D00A3}" dt="2026-05-22T07:05:37.962" v="18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8:38.615" v="11" actId="20577"/>
          <ac:spMkLst>
            <pc:docMk/>
            <pc:sldMk cId="0" sldId="257"/>
            <ac:spMk id="17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8:47.355" v="16" actId="20577"/>
          <ac:spMkLst>
            <pc:docMk/>
            <pc:sldMk cId="0" sldId="257"/>
            <ac:spMk id="20" creationId="{00000000-0000-0000-0000-000000000000}"/>
          </ac:spMkLst>
        </pc:spChg>
      </pc:sldChg>
      <pc:sldChg chg="delSp mod">
        <pc:chgData name="Keethan Nathan (s)" userId="0f5bfc72-6e58-4b9d-b756-1f6026538ee5" providerId="ADAL" clId="{648DECDB-0F43-48AD-800F-5E7A0F5D00A3}" dt="2026-05-22T07:06:18.722" v="19" actId="478"/>
        <pc:sldMkLst>
          <pc:docMk/>
          <pc:sldMk cId="0" sldId="258"/>
        </pc:sldMkLst>
        <pc:spChg chg="del">
          <ac:chgData name="Keethan Nathan (s)" userId="0f5bfc72-6e58-4b9d-b756-1f6026538ee5" providerId="ADAL" clId="{648DECDB-0F43-48AD-800F-5E7A0F5D00A3}" dt="2026-05-22T07:06:18.722" v="19" actId="478"/>
          <ac:spMkLst>
            <pc:docMk/>
            <pc:sldMk cId="0" sldId="258"/>
            <ac:spMk id="31" creationId="{00000000-0000-0000-0000-000000000000}"/>
          </ac:spMkLst>
        </pc:spChg>
      </pc:sldChg>
      <pc:sldChg chg="delSp modSp mod">
        <pc:chgData name="Keethan Nathan (s)" userId="0f5bfc72-6e58-4b9d-b756-1f6026538ee5" providerId="ADAL" clId="{648DECDB-0F43-48AD-800F-5E7A0F5D00A3}" dt="2026-05-22T06:55:52.933" v="8" actId="478"/>
        <pc:sldMkLst>
          <pc:docMk/>
          <pc:sldMk cId="0" sldId="263"/>
        </pc:sldMkLst>
        <pc:spChg chg="mod">
          <ac:chgData name="Keethan Nathan (s)" userId="0f5bfc72-6e58-4b9d-b756-1f6026538ee5" providerId="ADAL" clId="{648DECDB-0F43-48AD-800F-5E7A0F5D00A3}" dt="2026-05-22T06:54:57.665" v="0" actId="20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5:21.159" v="4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5:02.167" v="1" actId="20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5:25.662" v="5" actId="207"/>
          <ac:spMkLst>
            <pc:docMk/>
            <pc:sldMk cId="0" sldId="263"/>
            <ac:spMk id="17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5:08.206" v="2" actId="207"/>
          <ac:spMkLst>
            <pc:docMk/>
            <pc:sldMk cId="0" sldId="263"/>
            <ac:spMk id="22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5:30.240" v="6" actId="20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5:14.176" v="3" actId="207"/>
          <ac:spMkLst>
            <pc:docMk/>
            <pc:sldMk cId="0" sldId="263"/>
            <ac:spMk id="28" creationId="{00000000-0000-0000-0000-000000000000}"/>
          </ac:spMkLst>
        </pc:spChg>
        <pc:spChg chg="mod">
          <ac:chgData name="Keethan Nathan (s)" userId="0f5bfc72-6e58-4b9d-b756-1f6026538ee5" providerId="ADAL" clId="{648DECDB-0F43-48AD-800F-5E7A0F5D00A3}" dt="2026-05-22T06:55:39.128" v="7" actId="207"/>
          <ac:spMkLst>
            <pc:docMk/>
            <pc:sldMk cId="0" sldId="263"/>
            <ac:spMk id="29" creationId="{00000000-0000-0000-0000-000000000000}"/>
          </ac:spMkLst>
        </pc:spChg>
        <pc:spChg chg="del">
          <ac:chgData name="Keethan Nathan (s)" userId="0f5bfc72-6e58-4b9d-b756-1f6026538ee5" providerId="ADAL" clId="{648DECDB-0F43-48AD-800F-5E7A0F5D00A3}" dt="2026-05-22T06:55:52.933" v="8" actId="478"/>
          <ac:spMkLst>
            <pc:docMk/>
            <pc:sldMk cId="0" sldId="263"/>
            <ac:spMk id="3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0459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– Title (~20 sec)</a:t>
            </a:r>
            <a:br>
              <a:rPr lang="en-US" dirty="0"/>
            </a:br>
            <a:r>
              <a:rPr lang="en-US" dirty="0"/>
              <a:t>Good [morning/afternoon], everyone. My name is [X], and together with Ece, Furkan, Dominic, and Keethan, we're presenting our </a:t>
            </a:r>
            <a:r>
              <a:rPr lang="en-US" dirty="0" err="1"/>
              <a:t>DigiBP</a:t>
            </a:r>
            <a:r>
              <a:rPr lang="en-US" dirty="0"/>
              <a:t> project for Spring 2026. Our topic: automating the recruitment process for </a:t>
            </a:r>
            <a:r>
              <a:rPr lang="en-US" dirty="0" err="1"/>
              <a:t>Alpenblick</a:t>
            </a:r>
            <a:r>
              <a:rPr lang="en-US" dirty="0"/>
              <a:t> Consulting AG using Camunda, Make, and the Claude API."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00DC6-DEA7-8C0F-A401-860B6A390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A4A946-B961-AC6F-85DD-609393EB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D9CEB-5627-5B12-4249-60DC4EFC56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– </a:t>
            </a:r>
            <a:r>
              <a:rPr lang="en-US" dirty="0" err="1"/>
              <a:t>Alpenblick</a:t>
            </a:r>
            <a:r>
              <a:rPr lang="en-US" dirty="0"/>
              <a:t> Consulting AG (~45 sec)</a:t>
            </a:r>
            <a:br>
              <a:rPr lang="en-US" dirty="0"/>
            </a:br>
            <a:r>
              <a:rPr lang="en-US" dirty="0"/>
              <a:t>Let me quickly introduce the company. </a:t>
            </a:r>
            <a:r>
              <a:rPr lang="en-US" dirty="0" err="1"/>
              <a:t>Alpenblick</a:t>
            </a:r>
            <a:r>
              <a:rPr lang="en-US" dirty="0"/>
              <a:t> Consulting AG is a Swiss SME consulting firm with ten employees, advising clients in strategy, process improvement, and digital transformation. Due to rapid growth, they need to scale their talent acquisition — which is exactly where our project comes in. We built a job-agnostic process: the same BPMN and DMN logic supports all three currently open roles — Software Engineer, Business Analyst, and ERP Consultant."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E0639-285F-8ADE-1DD8-C193BA616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3154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3 – AS-IS Challenges</a:t>
            </a:r>
            <a:r>
              <a:rPr lang="en-US" dirty="0"/>
              <a:t> (~1 min 15 sec)</a:t>
            </a:r>
          </a:p>
          <a:p>
            <a:r>
              <a:rPr lang="en-US" dirty="0"/>
              <a:t>"Before we designed the solution, we mapped out the existing process and identified six major pain points. First, application handling is fully manual — HR monitors the web portal by hand and transfers data individually. Second, CV screening is entirely subjective — no scoring criteria, which means two recruiters can reach completely different conclusions about the same candidate. Third, all scheduling and communication is manual: invitations, rejections, and cancellations are written and sent one by one. Fourth, there's no structured evaluation format — interview feedback isn't captured centrally, making objective comparison impossible. Fifth, contracts are drafted manually in a word processor and emailed — slow and error-prone. And finally, onboarding is entirely uncoordinated — IT access, workspace setup, introductions — all arranged by hand, with steps frequently forgotten. These six issues formed the basis for everything we automated."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4 – Demo Recording Transition</a:t>
            </a:r>
            <a:r>
              <a:rPr lang="en-US" dirty="0"/>
              <a:t> (~15 sec)</a:t>
            </a:r>
          </a:p>
          <a:p>
            <a:r>
              <a:rPr lang="en-US" dirty="0"/>
              <a:t>"Now, rather than explaining the TO-BE process purely through slides, we'd like to show it to you. The following recording walks through the system end to end — from job posting, through CV scoring via the Claude API, all the way to contract generation and onboarding. It runs for approximately three minutes."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5 – Value Added</a:t>
            </a:r>
            <a:r>
              <a:rPr lang="en-US" dirty="0"/>
              <a:t> (~1 min)</a:t>
            </a:r>
          </a:p>
          <a:p>
            <a:r>
              <a:rPr lang="en-US" dirty="0"/>
              <a:t>"So what does this actually deliver? Six concrete improvements. Applications are now collected and structured automatically — the Claude API parses every CV and stores the data in Google Sheets without any manual input. CV scoring is objective: our DMN table with COLLECT SUM evaluates education, experience, and language skills identically for every candidate. All candidate communication — invitations, rejections, contracts — goes out automatically via Gmail and Calendly. Evaluations are captured through a structured digital form inside Camunda, creating a full audit trail. Job postings are published and closed automatically, including a 30-day timer. And contracts are generated from a Google Docs template, converted to PDF, and sent in one click — the candidate confirms via a link, which resumes the process automatically."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6 – Our Learnings</a:t>
            </a:r>
            <a:r>
              <a:rPr lang="en-US" dirty="0"/>
              <a:t> (~1 min)</a:t>
            </a:r>
          </a:p>
          <a:p>
            <a:r>
              <a:rPr lang="en-US" dirty="0"/>
              <a:t>"What did we learn building this? Four key takeaways. First: combining BPMN and DMN is genuinely powerful. Keeping process logic and decision logic separate made both easier to test, explain, and change. Second: LLMs are great at turning unstructured input into structured data — the Claude API eliminated our biggest manual bottleneck, although we found that output quality does vary depending on CV formatting. Third: Make significantly accelerates integration. Connecting Camunda to Gmail, Google Sheets, GitHub, and Calendly took hours rather than weeks — no custom code needed. And fourth, a conceptual learning: automation shifts human judgment rather than removing it. Screening bias is gone, but humans are still central for interviews and final hiring calls."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7 – Improvements &amp; Ethics</a:t>
            </a:r>
            <a:r>
              <a:rPr lang="en-US" dirty="0"/>
              <a:t> (~1 min)</a:t>
            </a:r>
          </a:p>
          <a:p>
            <a:r>
              <a:rPr lang="en-US" dirty="0"/>
              <a:t>"Looking ahead, there are five clear areas to improve: adding a human review step before CV scores are </a:t>
            </a:r>
            <a:r>
              <a:rPr lang="en-US" dirty="0" err="1"/>
              <a:t>finalised</a:t>
            </a:r>
            <a:r>
              <a:rPr lang="en-US" dirty="0"/>
              <a:t>; extending language support beyond German and English; building out a full onboarding sub-process in Camunda; giving candidates a self-service portal to track their application status; and adding an analytics dashboard for recruitment KPIs. On the ethical and legal side — this is important — automated hiring decisions fall under the EU AI Act as high-risk AI. Under the Swiss DSG, candidate data requires a legal basis for processing and must be stored only as long as necessary. Rejected candidates have a right to explanation. And as we mentioned, LLM variability and DMN weight calibration both require human oversight before any real-world deployment."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Thank You</a:t>
            </a:r>
            <a:r>
              <a:rPr lang="en-US" dirty="0"/>
              <a:t> (~10 sec)</a:t>
            </a:r>
          </a:p>
          <a:p>
            <a:r>
              <a:rPr lang="en-US" dirty="0"/>
              <a:t>"That brings us to the end. We're happy to take any questions — about the process design, the technical implementation, or the ethical considerations."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microsoft.com/office/2007/relationships/hdphoto" Target="../media/hdphoto5.wdp"/><Relationship Id="rId9" Type="http://schemas.microsoft.com/office/2007/relationships/hdphoto" Target="../media/hdphoto6.wdp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8.wdp"/><Relationship Id="rId5" Type="http://schemas.openxmlformats.org/officeDocument/2006/relationships/image" Target="../media/image13.png"/><Relationship Id="rId10" Type="http://schemas.microsoft.com/office/2007/relationships/hdphoto" Target="../media/hdphoto10.wdp"/><Relationship Id="rId4" Type="http://schemas.microsoft.com/office/2007/relationships/hdphoto" Target="../media/hdphoto7.wdp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1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FFC000"/>
          </a:solidFill>
          <a:ln w="12700">
            <a:noFill/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 err="1">
                <a:solidFill>
                  <a:srgbClr val="FFFFFF"/>
                </a:solidFill>
              </a:rPr>
              <a:t>Alpenblick</a:t>
            </a:r>
            <a:r>
              <a:rPr lang="en-US" sz="4400" b="1" dirty="0">
                <a:solidFill>
                  <a:srgbClr val="FFFFFF"/>
                </a:solidFill>
              </a:rPr>
              <a:t> </a:t>
            </a:r>
            <a:r>
              <a:rPr lang="en-US" sz="4400" b="1" dirty="0" err="1">
                <a:solidFill>
                  <a:srgbClr val="FFFFFF"/>
                </a:solidFill>
              </a:rPr>
              <a:t>Consuting</a:t>
            </a:r>
            <a:r>
              <a:rPr lang="en-US" sz="4400" b="1" dirty="0">
                <a:solidFill>
                  <a:srgbClr val="FFFFFF"/>
                </a:solidFill>
              </a:rPr>
              <a:t> AG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20624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</a:rPr>
              <a:t>Recruitmen</a:t>
            </a:r>
            <a:r>
              <a:rPr lang="en-US" sz="3000" b="1" dirty="0">
                <a:solidFill>
                  <a:srgbClr val="FFFFFF"/>
                </a:solidFill>
              </a:rPr>
              <a:t> Process Automation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206240" y="4663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0F4F4"/>
                </a:solidFill>
              </a:rPr>
              <a:t>Ece Kaya, Furkan Aydin, Dominic </a:t>
            </a:r>
            <a:r>
              <a:rPr lang="en-US" sz="800" dirty="0" err="1">
                <a:solidFill>
                  <a:srgbClr val="D0F4F4"/>
                </a:solidFill>
              </a:rPr>
              <a:t>Däster</a:t>
            </a:r>
            <a:r>
              <a:rPr lang="en-US" sz="800" dirty="0">
                <a:solidFill>
                  <a:srgbClr val="D0F4F4"/>
                </a:solidFill>
              </a:rPr>
              <a:t>, Keethan Nathan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00320-FD08-6417-C0EE-22A864BF5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767D89DE-5176-693B-3490-2874FEF4FA40}"/>
              </a:ext>
            </a:extLst>
          </p:cNvPr>
          <p:cNvSpPr/>
          <p:nvPr/>
        </p:nvSpPr>
        <p:spPr>
          <a:xfrm>
            <a:off x="228600" y="36576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FFC000"/>
                </a:solidFill>
              </a:rPr>
              <a:t>Alpenblick</a:t>
            </a:r>
            <a:r>
              <a:rPr lang="en-US" sz="3000" b="1" dirty="0">
                <a:solidFill>
                  <a:srgbClr val="FFC000"/>
                </a:solidFill>
              </a:rPr>
              <a:t> Consulting AG</a:t>
            </a:r>
            <a:endParaRPr lang="en-US" sz="3000" dirty="0">
              <a:solidFill>
                <a:srgbClr val="FFC000"/>
              </a:solidFill>
            </a:endParaRPr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86A52800-5CA6-C153-4C14-4447C9F3A6BB}"/>
              </a:ext>
            </a:extLst>
          </p:cNvPr>
          <p:cNvSpPr/>
          <p:nvPr/>
        </p:nvSpPr>
        <p:spPr>
          <a:xfrm>
            <a:off x="365760" y="1097280"/>
            <a:ext cx="5303520" cy="74980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08C9EAE-8C9C-5E2A-6145-B918A68ADB34}"/>
              </a:ext>
            </a:extLst>
          </p:cNvPr>
          <p:cNvSpPr/>
          <p:nvPr/>
        </p:nvSpPr>
        <p:spPr>
          <a:xfrm>
            <a:off x="100584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878BACAF-BFA1-AD84-8D0F-D914D9BCE0E5}"/>
              </a:ext>
            </a:extLst>
          </p:cNvPr>
          <p:cNvSpPr/>
          <p:nvPr/>
        </p:nvSpPr>
        <p:spPr>
          <a:xfrm>
            <a:off x="1005840" y="14447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SME Consulting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3B0332C8-7466-E48F-FCEF-FC214202AF3B}"/>
              </a:ext>
            </a:extLst>
          </p:cNvPr>
          <p:cNvSpPr/>
          <p:nvPr/>
        </p:nvSpPr>
        <p:spPr>
          <a:xfrm>
            <a:off x="365760" y="1993392"/>
            <a:ext cx="5303520" cy="74980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989ADFC6-C308-9A7E-8C28-AB8CB070AFE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920" y="2139696"/>
            <a:ext cx="384048" cy="384048"/>
          </a:xfrm>
          <a:prstGeom prst="rect">
            <a:avLst/>
          </a:prstGeom>
        </p:spPr>
      </p:pic>
      <p:sp>
        <p:nvSpPr>
          <p:cNvPr id="27" name="Text 6">
            <a:extLst>
              <a:ext uri="{FF2B5EF4-FFF2-40B4-BE49-F238E27FC236}">
                <a16:creationId xmlns:a16="http://schemas.microsoft.com/office/drawing/2014/main" id="{61723533-95A1-E062-0A80-760087D093F5}"/>
              </a:ext>
            </a:extLst>
          </p:cNvPr>
          <p:cNvSpPr/>
          <p:nvPr/>
        </p:nvSpPr>
        <p:spPr>
          <a:xfrm>
            <a:off x="1005840" y="20848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7F645E7B-5332-EBC0-619C-EF8BFC4D7EAF}"/>
              </a:ext>
            </a:extLst>
          </p:cNvPr>
          <p:cNvSpPr/>
          <p:nvPr/>
        </p:nvSpPr>
        <p:spPr>
          <a:xfrm>
            <a:off x="1005840" y="23408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Employees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433FAC95-901A-BFED-835D-2BF2E9D502CC}"/>
              </a:ext>
            </a:extLst>
          </p:cNvPr>
          <p:cNvSpPr/>
          <p:nvPr/>
        </p:nvSpPr>
        <p:spPr>
          <a:xfrm>
            <a:off x="365760" y="2889504"/>
            <a:ext cx="5303520" cy="74980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554A7C15-ACB8-3BFE-D97E-D6234D2C90D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920" y="3035808"/>
            <a:ext cx="384048" cy="384048"/>
          </a:xfrm>
          <a:prstGeom prst="rect">
            <a:avLst/>
          </a:prstGeom>
        </p:spPr>
      </p:pic>
      <p:sp>
        <p:nvSpPr>
          <p:cNvPr id="31" name="Text 9">
            <a:extLst>
              <a:ext uri="{FF2B5EF4-FFF2-40B4-BE49-F238E27FC236}">
                <a16:creationId xmlns:a16="http://schemas.microsoft.com/office/drawing/2014/main" id="{85625B0F-7E8F-9367-EF6D-567AC91117B9}"/>
              </a:ext>
            </a:extLst>
          </p:cNvPr>
          <p:cNvSpPr/>
          <p:nvPr/>
        </p:nvSpPr>
        <p:spPr>
          <a:xfrm>
            <a:off x="1005840" y="29809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6EFC7767-9C5F-34AB-73FA-3FB13516DFA9}"/>
              </a:ext>
            </a:extLst>
          </p:cNvPr>
          <p:cNvSpPr/>
          <p:nvPr/>
        </p:nvSpPr>
        <p:spPr>
          <a:xfrm>
            <a:off x="1005840" y="32369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Process · Digital Transformation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265166A4-87A6-DA84-BE99-35E0E358E3C3}"/>
              </a:ext>
            </a:extLst>
          </p:cNvPr>
          <p:cNvSpPr/>
          <p:nvPr/>
        </p:nvSpPr>
        <p:spPr>
          <a:xfrm>
            <a:off x="365760" y="3785616"/>
            <a:ext cx="5303520" cy="74980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34" name="Image 3" descr="preencoded.png">
            <a:extLst>
              <a:ext uri="{FF2B5EF4-FFF2-40B4-BE49-F238E27FC236}">
                <a16:creationId xmlns:a16="http://schemas.microsoft.com/office/drawing/2014/main" id="{566EA9E5-7071-4574-3DBB-F8EA23D6E7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931920"/>
            <a:ext cx="384048" cy="384048"/>
          </a:xfrm>
          <a:prstGeom prst="rect">
            <a:avLst/>
          </a:prstGeom>
        </p:spPr>
      </p:pic>
      <p:sp>
        <p:nvSpPr>
          <p:cNvPr id="35" name="Text 12">
            <a:extLst>
              <a:ext uri="{FF2B5EF4-FFF2-40B4-BE49-F238E27FC236}">
                <a16:creationId xmlns:a16="http://schemas.microsoft.com/office/drawing/2014/main" id="{4534E4C9-CC46-09B5-4464-64E6253EC26B}"/>
              </a:ext>
            </a:extLst>
          </p:cNvPr>
          <p:cNvSpPr/>
          <p:nvPr/>
        </p:nvSpPr>
        <p:spPr>
          <a:xfrm>
            <a:off x="1005840" y="38770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9B7FDFA8-F821-7078-E6FC-2F377F12ECB5}"/>
              </a:ext>
            </a:extLst>
          </p:cNvPr>
          <p:cNvSpPr/>
          <p:nvPr/>
        </p:nvSpPr>
        <p:spPr>
          <a:xfrm>
            <a:off x="1005840" y="413308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growth → need for efficient talent acquisition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37" name="Shape 14">
            <a:extLst>
              <a:ext uri="{FF2B5EF4-FFF2-40B4-BE49-F238E27FC236}">
                <a16:creationId xmlns:a16="http://schemas.microsoft.com/office/drawing/2014/main" id="{03AB48C5-777B-0E69-E907-5DF03040BA66}"/>
              </a:ext>
            </a:extLst>
          </p:cNvPr>
          <p:cNvSpPr/>
          <p:nvPr/>
        </p:nvSpPr>
        <p:spPr>
          <a:xfrm>
            <a:off x="5943600" y="1097280"/>
            <a:ext cx="2834640" cy="3566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9DD3B00E-14A5-7FE9-3D95-C5744B26B674}"/>
              </a:ext>
            </a:extLst>
          </p:cNvPr>
          <p:cNvSpPr/>
          <p:nvPr/>
        </p:nvSpPr>
        <p:spPr>
          <a:xfrm>
            <a:off x="5943600" y="1143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39" name="Shape 16">
            <a:extLst>
              <a:ext uri="{FF2B5EF4-FFF2-40B4-BE49-F238E27FC236}">
                <a16:creationId xmlns:a16="http://schemas.microsoft.com/office/drawing/2014/main" id="{1B3B1302-4C19-A62D-40A3-2F80A6A18FE6}"/>
              </a:ext>
            </a:extLst>
          </p:cNvPr>
          <p:cNvSpPr/>
          <p:nvPr/>
        </p:nvSpPr>
        <p:spPr>
          <a:xfrm>
            <a:off x="6080760" y="1737360"/>
            <a:ext cx="2560320" cy="804672"/>
          </a:xfrm>
          <a:prstGeom prst="rect">
            <a:avLst/>
          </a:prstGeom>
          <a:solidFill>
            <a:srgbClr val="243654"/>
          </a:solidFill>
          <a:ln w="12700">
            <a:solidFill>
              <a:srgbClr val="24365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17">
            <a:extLst>
              <a:ext uri="{FF2B5EF4-FFF2-40B4-BE49-F238E27FC236}">
                <a16:creationId xmlns:a16="http://schemas.microsoft.com/office/drawing/2014/main" id="{BF8C539C-5E89-09C4-D56E-CC4ACB6B5DDF}"/>
              </a:ext>
            </a:extLst>
          </p:cNvPr>
          <p:cNvSpPr/>
          <p:nvPr/>
        </p:nvSpPr>
        <p:spPr>
          <a:xfrm>
            <a:off x="6080760" y="17922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</a:t>
            </a:r>
            <a:endParaRPr lang="en-US" sz="1300" dirty="0"/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C7F88B8E-346A-97D4-6A7E-1E6E10EF9802}"/>
              </a:ext>
            </a:extLst>
          </p:cNvPr>
          <p:cNvSpPr/>
          <p:nvPr/>
        </p:nvSpPr>
        <p:spPr>
          <a:xfrm>
            <a:off x="6080760" y="2157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>
              <a:solidFill>
                <a:srgbClr val="FFC000"/>
              </a:solidFill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9B9A726C-329D-BBC7-B755-3074A217B46B}"/>
              </a:ext>
            </a:extLst>
          </p:cNvPr>
          <p:cNvSpPr/>
          <p:nvPr/>
        </p:nvSpPr>
        <p:spPr>
          <a:xfrm>
            <a:off x="6080760" y="2743200"/>
            <a:ext cx="2560320" cy="804672"/>
          </a:xfrm>
          <a:prstGeom prst="rect">
            <a:avLst/>
          </a:prstGeom>
          <a:solidFill>
            <a:srgbClr val="243654"/>
          </a:solidFill>
          <a:ln w="12700">
            <a:solidFill>
              <a:srgbClr val="24365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B1897DCC-175A-FCD5-74CD-2C24A2C30BCE}"/>
              </a:ext>
            </a:extLst>
          </p:cNvPr>
          <p:cNvSpPr/>
          <p:nvPr/>
        </p:nvSpPr>
        <p:spPr>
          <a:xfrm>
            <a:off x="6080760" y="279806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</a:t>
            </a:r>
            <a:endParaRPr lang="en-US" sz="1300" dirty="0"/>
          </a:p>
        </p:txBody>
      </p:sp>
      <p:sp>
        <p:nvSpPr>
          <p:cNvPr id="44" name="Text 21">
            <a:extLst>
              <a:ext uri="{FF2B5EF4-FFF2-40B4-BE49-F238E27FC236}">
                <a16:creationId xmlns:a16="http://schemas.microsoft.com/office/drawing/2014/main" id="{73428222-A278-82A1-AC4D-3FF07E13B178}"/>
              </a:ext>
            </a:extLst>
          </p:cNvPr>
          <p:cNvSpPr/>
          <p:nvPr/>
        </p:nvSpPr>
        <p:spPr>
          <a:xfrm>
            <a:off x="6080760" y="31638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</a:t>
            </a:r>
            <a:endParaRPr lang="en-US" sz="1000" dirty="0">
              <a:solidFill>
                <a:srgbClr val="FFC000"/>
              </a:solidFill>
            </a:endParaRP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CBB695BD-343B-3F7C-5C21-342242F78DC7}"/>
              </a:ext>
            </a:extLst>
          </p:cNvPr>
          <p:cNvSpPr/>
          <p:nvPr/>
        </p:nvSpPr>
        <p:spPr>
          <a:xfrm>
            <a:off x="6080760" y="3749040"/>
            <a:ext cx="2560320" cy="804672"/>
          </a:xfrm>
          <a:prstGeom prst="rect">
            <a:avLst/>
          </a:prstGeom>
          <a:solidFill>
            <a:srgbClr val="243654"/>
          </a:solidFill>
          <a:ln w="12700">
            <a:solidFill>
              <a:srgbClr val="24365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5D4DF470-E653-819B-700C-F953270A5B52}"/>
              </a:ext>
            </a:extLst>
          </p:cNvPr>
          <p:cNvSpPr/>
          <p:nvPr/>
        </p:nvSpPr>
        <p:spPr>
          <a:xfrm>
            <a:off x="6080760" y="38039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Consultant</a:t>
            </a:r>
            <a:endParaRPr lang="en-US" sz="130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69B5874E-F305-F19D-2835-F2605BC23569}"/>
              </a:ext>
            </a:extLst>
          </p:cNvPr>
          <p:cNvSpPr/>
          <p:nvPr/>
        </p:nvSpPr>
        <p:spPr>
          <a:xfrm>
            <a:off x="6080760" y="41696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Solutions</a:t>
            </a:r>
            <a:endParaRPr lang="en-US" sz="1000" dirty="0">
              <a:solidFill>
                <a:srgbClr val="FFC000"/>
              </a:solidFill>
            </a:endParaRPr>
          </a:p>
        </p:txBody>
      </p:sp>
      <p:pic>
        <p:nvPicPr>
          <p:cNvPr id="48" name="Image 0" descr="preencoded.png">
            <a:extLst>
              <a:ext uri="{FF2B5EF4-FFF2-40B4-BE49-F238E27FC236}">
                <a16:creationId xmlns:a16="http://schemas.microsoft.com/office/drawing/2014/main" id="{87251321-E673-74CF-EA29-9E7DE77F8381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920" y="1243584"/>
            <a:ext cx="384048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918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228600" y="36576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C000"/>
                </a:solidFill>
              </a:rPr>
              <a:t>AS-IS Challenges</a:t>
            </a:r>
            <a:endParaRPr lang="en-US" sz="3000" dirty="0">
              <a:solidFill>
                <a:srgbClr val="FFC000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420624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365760" y="14813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C000"/>
                </a:solidFill>
              </a:rPr>
              <a:t>Manual Application Handling</a:t>
            </a:r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HR manually monitors web portal &amp; transfers data by hand, slow, and error-prone at scale</a:t>
            </a:r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20624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800600" y="1481328"/>
            <a:ext cx="393192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C000"/>
                </a:solidFill>
              </a:rPr>
              <a:t>Subjective CV Screening</a:t>
            </a:r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93192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Invitations, cancellations, contracts. All written individually</a:t>
            </a:r>
          </a:p>
        </p:txBody>
      </p:sp>
      <p:sp>
        <p:nvSpPr>
          <p:cNvPr id="12" name="Shape 10"/>
          <p:cNvSpPr/>
          <p:nvPr/>
        </p:nvSpPr>
        <p:spPr>
          <a:xfrm>
            <a:off x="228600" y="2514600"/>
            <a:ext cx="420624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65760" y="2578608"/>
            <a:ext cx="393192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C000"/>
                </a:solidFill>
              </a:rPr>
              <a:t>Manual Scheduling &amp; Communication</a:t>
            </a:r>
          </a:p>
        </p:txBody>
      </p:sp>
      <p:sp>
        <p:nvSpPr>
          <p:cNvPr id="14" name="Text 12"/>
          <p:cNvSpPr/>
          <p:nvPr/>
        </p:nvSpPr>
        <p:spPr>
          <a:xfrm>
            <a:off x="365760" y="2898648"/>
            <a:ext cx="393192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Interviews and assessments lack standardised evaluation criteria</a:t>
            </a:r>
          </a:p>
        </p:txBody>
      </p:sp>
      <p:sp>
        <p:nvSpPr>
          <p:cNvPr id="15" name="Shape 13"/>
          <p:cNvSpPr/>
          <p:nvPr/>
        </p:nvSpPr>
        <p:spPr>
          <a:xfrm>
            <a:off x="4663440" y="2514600"/>
            <a:ext cx="420624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00600" y="2578608"/>
            <a:ext cx="393192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C000"/>
                </a:solidFill>
              </a:rPr>
              <a:t>No Structured Evaluation</a:t>
            </a:r>
          </a:p>
        </p:txBody>
      </p:sp>
      <p:sp>
        <p:nvSpPr>
          <p:cNvPr id="17" name="Text 15"/>
          <p:cNvSpPr/>
          <p:nvPr/>
        </p:nvSpPr>
        <p:spPr>
          <a:xfrm>
            <a:off x="4800600" y="2898648"/>
            <a:ext cx="393192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IT access, Slack, tasks, coordinated manually every single time</a:t>
            </a:r>
          </a:p>
        </p:txBody>
      </p:sp>
      <p:sp>
        <p:nvSpPr>
          <p:cNvPr id="18" name="Shape 16"/>
          <p:cNvSpPr/>
          <p:nvPr/>
        </p:nvSpPr>
        <p:spPr>
          <a:xfrm>
            <a:off x="228600" y="3611880"/>
            <a:ext cx="420624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65760" y="3675888"/>
            <a:ext cx="393192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C000"/>
                </a:solidFill>
              </a:rPr>
              <a:t>Manual Contract Creation</a:t>
            </a:r>
          </a:p>
        </p:txBody>
      </p:sp>
      <p:sp>
        <p:nvSpPr>
          <p:cNvPr id="20" name="Text 18"/>
          <p:cNvSpPr/>
          <p:nvPr/>
        </p:nvSpPr>
        <p:spPr>
          <a:xfrm>
            <a:off x="365760" y="3995928"/>
            <a:ext cx="393192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Two recruiters, two outcomes.  Bias creeps in at every stage</a:t>
            </a:r>
          </a:p>
        </p:txBody>
      </p:sp>
      <p:sp>
        <p:nvSpPr>
          <p:cNvPr id="21" name="Shape 19"/>
          <p:cNvSpPr/>
          <p:nvPr/>
        </p:nvSpPr>
        <p:spPr>
          <a:xfrm>
            <a:off x="4663440" y="3630168"/>
            <a:ext cx="420624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800600" y="3675888"/>
            <a:ext cx="393192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C000"/>
                </a:solidFill>
              </a:rPr>
              <a:t>Unstructured Onboarding</a:t>
            </a:r>
          </a:p>
        </p:txBody>
      </p:sp>
      <p:sp>
        <p:nvSpPr>
          <p:cNvPr id="23" name="Text 21"/>
          <p:cNvSpPr/>
          <p:nvPr/>
        </p:nvSpPr>
        <p:spPr>
          <a:xfrm>
            <a:off x="4800600" y="3995928"/>
            <a:ext cx="393192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IT access, workspace &amp; introductions coordinated by hand. Steps are forgotten or delayed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23360" y="64008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Recording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457200" y="2834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B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of the TO-BE process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3566160"/>
            <a:ext cx="2286000" cy="457200"/>
          </a:xfrm>
          <a:prstGeom prst="rect">
            <a:avLst/>
          </a:prstGeom>
          <a:solidFill>
            <a:srgbClr val="243654"/>
          </a:solidFill>
          <a:ln w="12700">
            <a:solidFill>
              <a:srgbClr val="FFCC00"/>
            </a:solidFill>
            <a:prstDash val="solid"/>
          </a:ln>
        </p:spPr>
        <p:txBody>
          <a:bodyPr/>
          <a:lstStyle/>
          <a:p>
            <a:endParaRPr lang="en-GB">
              <a:solidFill>
                <a:srgbClr val="FFC000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914400" y="3566160"/>
            <a:ext cx="2286000" cy="457200"/>
          </a:xfrm>
          <a:prstGeom prst="rect">
            <a:avLst/>
          </a:prstGeom>
          <a:noFill/>
          <a:ln>
            <a:solidFill>
              <a:srgbClr val="FFCC0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3474720" y="3566160"/>
            <a:ext cx="2286000" cy="457200"/>
          </a:xfrm>
          <a:prstGeom prst="rect">
            <a:avLst/>
          </a:prstGeom>
          <a:solidFill>
            <a:srgbClr val="243654"/>
          </a:solidFill>
          <a:ln w="12700">
            <a:solidFill>
              <a:srgbClr val="FFCC00"/>
            </a:solidFill>
            <a:prstDash val="solid"/>
          </a:ln>
        </p:spPr>
        <p:txBody>
          <a:bodyPr/>
          <a:lstStyle/>
          <a:p>
            <a:endParaRPr lang="en-GB">
              <a:solidFill>
                <a:srgbClr val="FFC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3474720" y="3566160"/>
            <a:ext cx="2286000" cy="457200"/>
          </a:xfrm>
          <a:prstGeom prst="rect">
            <a:avLst/>
          </a:prstGeom>
          <a:noFill/>
          <a:ln>
            <a:solidFill>
              <a:srgbClr val="FFCC0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Scoring via Claude API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6035040" y="3566160"/>
            <a:ext cx="2286000" cy="457200"/>
          </a:xfrm>
          <a:prstGeom prst="rect">
            <a:avLst/>
          </a:prstGeom>
          <a:solidFill>
            <a:srgbClr val="243654"/>
          </a:solidFill>
          <a:ln w="12700">
            <a:solidFill>
              <a:srgbClr val="FFCC00"/>
            </a:solidFill>
            <a:prstDash val="solid"/>
          </a:ln>
        </p:spPr>
        <p:txBody>
          <a:bodyPr/>
          <a:lstStyle/>
          <a:p>
            <a:endParaRPr lang="en-GB">
              <a:solidFill>
                <a:srgbClr val="FFC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035040" y="3566160"/>
            <a:ext cx="2286000" cy="457200"/>
          </a:xfrm>
          <a:prstGeom prst="rect">
            <a:avLst/>
          </a:prstGeom>
          <a:noFill/>
          <a:ln>
            <a:solidFill>
              <a:srgbClr val="FFCC0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&amp; Onboarding</a:t>
            </a:r>
            <a:endParaRPr lang="en-US" sz="1100"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Added by the TO-BE Process</a:t>
            </a:r>
            <a:endParaRPr lang="en-US" sz="2600" dirty="0">
              <a:solidFill>
                <a:srgbClr val="FFC0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206240" cy="11704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84048" y="1344168"/>
            <a:ext cx="548640" cy="5486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9768" y="1389888"/>
            <a:ext cx="4572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7" name="Text 4"/>
          <p:cNvSpPr/>
          <p:nvPr/>
        </p:nvSpPr>
        <p:spPr>
          <a:xfrm>
            <a:off x="1051560" y="1143000"/>
            <a:ext cx="3291840" cy="34747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Intake</a:t>
            </a:r>
            <a:endParaRPr lang="en-US" sz="1250" dirty="0">
              <a:solidFill>
                <a:srgbClr val="FFC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1051560" y="1508760"/>
            <a:ext cx="3291840" cy="6400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auto-received, CV parsed by Claude API &amp; stored in Google Sheets —&gt; zero manual data entry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4754880" y="1051560"/>
            <a:ext cx="4206240" cy="11704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4864608" y="1344168"/>
            <a:ext cx="548640" cy="5486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910328" y="1389888"/>
            <a:ext cx="4572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12" name="Text 8"/>
          <p:cNvSpPr/>
          <p:nvPr/>
        </p:nvSpPr>
        <p:spPr>
          <a:xfrm>
            <a:off x="5532120" y="1143000"/>
            <a:ext cx="3291840" cy="34747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CV Scoring</a:t>
            </a:r>
            <a:endParaRPr lang="en-US" sz="1250" dirty="0">
              <a:solidFill>
                <a:srgbClr val="FFC000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5532120" y="1508760"/>
            <a:ext cx="3291840" cy="6400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DMN decision table (COLLECT SUM) evaluates education, experience &amp; languages —&gt; consistent for every candidate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74320" y="2350008"/>
            <a:ext cx="4206240" cy="11704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15" name="Shape 11"/>
          <p:cNvSpPr/>
          <p:nvPr/>
        </p:nvSpPr>
        <p:spPr>
          <a:xfrm>
            <a:off x="384048" y="2642616"/>
            <a:ext cx="548640" cy="5486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9768" y="2688336"/>
            <a:ext cx="4572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17" name="Text 12"/>
          <p:cNvSpPr/>
          <p:nvPr/>
        </p:nvSpPr>
        <p:spPr>
          <a:xfrm>
            <a:off x="1051560" y="2441448"/>
            <a:ext cx="3291840" cy="34747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Communication</a:t>
            </a:r>
            <a:endParaRPr lang="en-US" sz="1250" dirty="0">
              <a:solidFill>
                <a:srgbClr val="FFC000"/>
              </a:solidFill>
            </a:endParaRPr>
          </a:p>
        </p:txBody>
      </p:sp>
      <p:sp>
        <p:nvSpPr>
          <p:cNvPr id="18" name="Text 13"/>
          <p:cNvSpPr/>
          <p:nvPr/>
        </p:nvSpPr>
        <p:spPr>
          <a:xfrm>
            <a:off x="1051560" y="2807208"/>
            <a:ext cx="3291840" cy="6400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Invitations, rejections &amp; contracts sent automatically via Gmail + Calendly —&gt; no manual emails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754880" y="2350008"/>
            <a:ext cx="4206240" cy="11704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0" name="Shape 15"/>
          <p:cNvSpPr/>
          <p:nvPr/>
        </p:nvSpPr>
        <p:spPr>
          <a:xfrm>
            <a:off x="4864608" y="2642616"/>
            <a:ext cx="548640" cy="5486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910328" y="2688336"/>
            <a:ext cx="4572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22" name="Text 16"/>
          <p:cNvSpPr/>
          <p:nvPr/>
        </p:nvSpPr>
        <p:spPr>
          <a:xfrm>
            <a:off x="5532120" y="2441448"/>
            <a:ext cx="3291840" cy="34747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Evaluation</a:t>
            </a:r>
            <a:endParaRPr lang="en-US" sz="1250" dirty="0">
              <a:solidFill>
                <a:srgbClr val="FFC000"/>
              </a:solidFill>
            </a:endParaRPr>
          </a:p>
        </p:txBody>
      </p:sp>
      <p:sp>
        <p:nvSpPr>
          <p:cNvPr id="23" name="Text 17"/>
          <p:cNvSpPr/>
          <p:nvPr/>
        </p:nvSpPr>
        <p:spPr>
          <a:xfrm>
            <a:off x="5532120" y="2807208"/>
            <a:ext cx="3291840" cy="6400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Evaluate.form in Camunda captures all interview &amp; assessment feedback centrally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24" name="Shape 18"/>
          <p:cNvSpPr/>
          <p:nvPr/>
        </p:nvSpPr>
        <p:spPr>
          <a:xfrm>
            <a:off x="274320" y="3648456"/>
            <a:ext cx="4206240" cy="11704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5" name="Shape 19"/>
          <p:cNvSpPr/>
          <p:nvPr/>
        </p:nvSpPr>
        <p:spPr>
          <a:xfrm>
            <a:off x="384048" y="3941064"/>
            <a:ext cx="548640" cy="5486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9768" y="3986784"/>
            <a:ext cx="4572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27" name="Text 20"/>
          <p:cNvSpPr/>
          <p:nvPr/>
        </p:nvSpPr>
        <p:spPr>
          <a:xfrm>
            <a:off x="1051560" y="3739896"/>
            <a:ext cx="3291840" cy="34747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Job Posting</a:t>
            </a:r>
            <a:endParaRPr lang="en-US" sz="1250" dirty="0">
              <a:solidFill>
                <a:srgbClr val="FFC000"/>
              </a:solidFill>
            </a:endParaRPr>
          </a:p>
        </p:txBody>
      </p:sp>
      <p:sp>
        <p:nvSpPr>
          <p:cNvPr id="28" name="Text 21"/>
          <p:cNvSpPr/>
          <p:nvPr/>
        </p:nvSpPr>
        <p:spPr>
          <a:xfrm>
            <a:off x="1051560" y="4105656"/>
            <a:ext cx="3291840" cy="6400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selects role → system publishes to GitHub Pages; 30-day timer closes the posting automatically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29" name="Shape 22"/>
          <p:cNvSpPr/>
          <p:nvPr/>
        </p:nvSpPr>
        <p:spPr>
          <a:xfrm>
            <a:off x="4754880" y="3648456"/>
            <a:ext cx="4206240" cy="11704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30" name="Shape 23"/>
          <p:cNvSpPr/>
          <p:nvPr/>
        </p:nvSpPr>
        <p:spPr>
          <a:xfrm>
            <a:off x="4864608" y="3941064"/>
            <a:ext cx="548640" cy="54864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910328" y="3986784"/>
            <a:ext cx="4572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32" name="Text 24"/>
          <p:cNvSpPr/>
          <p:nvPr/>
        </p:nvSpPr>
        <p:spPr>
          <a:xfrm>
            <a:off x="5532120" y="3739896"/>
            <a:ext cx="3291840" cy="34747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Generation</a:t>
            </a:r>
            <a:endParaRPr lang="en-US" sz="1250" dirty="0">
              <a:solidFill>
                <a:srgbClr val="FFC000"/>
              </a:solidFill>
            </a:endParaRPr>
          </a:p>
        </p:txBody>
      </p:sp>
      <p:sp>
        <p:nvSpPr>
          <p:cNvPr id="33" name="Text 25"/>
          <p:cNvSpPr/>
          <p:nvPr/>
        </p:nvSpPr>
        <p:spPr>
          <a:xfrm>
            <a:off x="5532120" y="4105656"/>
            <a:ext cx="3291840" cy="6400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 template → PDF → Gmail in one click; candidate confirms via link, Camunda resumes</a:t>
            </a:r>
            <a:endParaRPr lang="en-US" sz="9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Learnings</a:t>
            </a:r>
            <a:endParaRPr lang="en-US" sz="2600" dirty="0">
              <a:solidFill>
                <a:srgbClr val="FFC0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024128"/>
            <a:ext cx="8595360" cy="8686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>
              <a:solidFill>
                <a:srgbClr val="FFC00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102412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>
              <a:solidFill>
                <a:srgbClr val="FFC000"/>
              </a:solidFill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12344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08813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+ DMN is a powerful combination</a:t>
            </a:r>
            <a:endParaRPr lang="en-US" sz="1300" dirty="0">
              <a:solidFill>
                <a:srgbClr val="FFC000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1554480" y="142646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process flow (BPMN) from decision logic (DMN) makes both easier to understand, test, and modify independently.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274320" y="2029968"/>
            <a:ext cx="8595360" cy="8686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274320" y="202996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noFill/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74320" y="202996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>
              <a:solidFill>
                <a:srgbClr val="FFC000"/>
              </a:solidFill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224028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54480" y="209397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enable structured data from unstructured input</a:t>
            </a:r>
            <a:endParaRPr lang="en-US" sz="1300" dirty="0">
              <a:solidFill>
                <a:srgbClr val="FFC000"/>
              </a:solidFill>
            </a:endParaRPr>
          </a:p>
        </p:txBody>
      </p:sp>
      <p:sp>
        <p:nvSpPr>
          <p:cNvPr id="15" name="Text 11"/>
          <p:cNvSpPr/>
          <p:nvPr/>
        </p:nvSpPr>
        <p:spPr>
          <a:xfrm>
            <a:off x="1554480" y="24323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Claude API to extract CV fields from PDF removed the biggest manual bottleneck.  But output quality depends on CV formatting.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6" name="Shape 12"/>
          <p:cNvSpPr/>
          <p:nvPr/>
        </p:nvSpPr>
        <p:spPr>
          <a:xfrm>
            <a:off x="274320" y="3035808"/>
            <a:ext cx="8595360" cy="8686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3"/>
          <p:cNvSpPr/>
          <p:nvPr/>
        </p:nvSpPr>
        <p:spPr>
          <a:xfrm>
            <a:off x="274320" y="303580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274320" y="303580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>
              <a:solidFill>
                <a:srgbClr val="FFC000"/>
              </a:solidFill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7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324612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309981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accelerates integration</a:t>
            </a:r>
            <a:endParaRPr lang="en-US" sz="1300" dirty="0">
              <a:solidFill>
                <a:srgbClr val="FFC000"/>
              </a:solidFill>
            </a:endParaRPr>
          </a:p>
        </p:txBody>
      </p:sp>
      <p:sp>
        <p:nvSpPr>
          <p:cNvPr id="21" name="Text 16"/>
          <p:cNvSpPr/>
          <p:nvPr/>
        </p:nvSpPr>
        <p:spPr>
          <a:xfrm>
            <a:off x="1554480" y="343814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Webhook-driven Make scenarios allowed rapid connection of Camunda to Gmail, Google Sheets, GitHub, and Calendly without custom code.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2" name="Shape 17"/>
          <p:cNvSpPr/>
          <p:nvPr/>
        </p:nvSpPr>
        <p:spPr>
          <a:xfrm>
            <a:off x="274320" y="4041648"/>
            <a:ext cx="8595360" cy="8686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18"/>
          <p:cNvSpPr/>
          <p:nvPr/>
        </p:nvSpPr>
        <p:spPr>
          <a:xfrm>
            <a:off x="274320" y="4041648"/>
            <a:ext cx="59436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19"/>
          <p:cNvSpPr/>
          <p:nvPr/>
        </p:nvSpPr>
        <p:spPr>
          <a:xfrm>
            <a:off x="274320" y="4041648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>
              <a:solidFill>
                <a:srgbClr val="FFC000"/>
              </a:solidFill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9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5840" y="4251960"/>
            <a:ext cx="411480" cy="4114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54480" y="410565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shifts human judgment (not eliminates)</a:t>
            </a:r>
            <a:endParaRPr lang="en-US" sz="1300" dirty="0">
              <a:solidFill>
                <a:srgbClr val="FFC000"/>
              </a:solidFill>
            </a:endParaRPr>
          </a:p>
        </p:txBody>
      </p:sp>
      <p:sp>
        <p:nvSpPr>
          <p:cNvPr id="27" name="Text 21"/>
          <p:cNvSpPr/>
          <p:nvPr/>
        </p:nvSpPr>
        <p:spPr>
          <a:xfrm>
            <a:off x="1554480" y="444398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removes bias in screening, but humans remain essential for interview evaluation and final hiring decisions.</a:t>
            </a:r>
            <a:endParaRPr lang="en-US" sz="10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 &amp; Ethical Considerations</a:t>
            </a:r>
            <a:endParaRPr lang="en-US" sz="2200" dirty="0">
              <a:solidFill>
                <a:srgbClr val="FFC0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60520" cy="411480"/>
          </a:xfrm>
          <a:prstGeom prst="rect">
            <a:avLst/>
          </a:prstGeom>
          <a:solidFill>
            <a:srgbClr val="FFC000"/>
          </a:solidFill>
          <a:ln w="12700">
            <a:noFill/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</a:t>
            </a: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160520" cy="57607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1609344"/>
            <a:ext cx="32004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822960" y="1600200"/>
            <a:ext cx="3474720" cy="38404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step before CV scores are finalised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274320" y="2176272"/>
            <a:ext cx="4160520" cy="57607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2276856"/>
            <a:ext cx="32004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11" name="Text 7"/>
          <p:cNvSpPr/>
          <p:nvPr/>
        </p:nvSpPr>
        <p:spPr>
          <a:xfrm>
            <a:off x="822960" y="2267712"/>
            <a:ext cx="3474720" cy="38404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CV support beyond German &amp; English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274320" y="2843784"/>
            <a:ext cx="4160520" cy="57607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2944368"/>
            <a:ext cx="32004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14" name="Text 9"/>
          <p:cNvSpPr/>
          <p:nvPr/>
        </p:nvSpPr>
        <p:spPr>
          <a:xfrm>
            <a:off x="822960" y="2935224"/>
            <a:ext cx="3474720" cy="38404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onboarding sub-process in Camunda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274320" y="3511296"/>
            <a:ext cx="4160520" cy="57607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3611880"/>
            <a:ext cx="32004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17" name="Text 11"/>
          <p:cNvSpPr/>
          <p:nvPr/>
        </p:nvSpPr>
        <p:spPr>
          <a:xfrm>
            <a:off x="822960" y="3602736"/>
            <a:ext cx="3474720" cy="38404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self-service portal for status tracking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8" name="Shape 12"/>
          <p:cNvSpPr/>
          <p:nvPr/>
        </p:nvSpPr>
        <p:spPr>
          <a:xfrm>
            <a:off x="274320" y="4178808"/>
            <a:ext cx="4160520" cy="57607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048" y="4279392"/>
            <a:ext cx="320040" cy="32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</p:pic>
      <p:sp>
        <p:nvSpPr>
          <p:cNvPr id="20" name="Text 13"/>
          <p:cNvSpPr/>
          <p:nvPr/>
        </p:nvSpPr>
        <p:spPr>
          <a:xfrm>
            <a:off x="822960" y="4270248"/>
            <a:ext cx="3474720" cy="38404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 for recruitment KPIs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4709160" y="1005840"/>
            <a:ext cx="416052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5"/>
          <p:cNvSpPr/>
          <p:nvPr/>
        </p:nvSpPr>
        <p:spPr>
          <a:xfrm>
            <a:off x="4709160" y="100584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&amp; Legal Considerations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4709160" y="1508760"/>
            <a:ext cx="4160520" cy="57607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4" name="Shape 17"/>
          <p:cNvSpPr/>
          <p:nvPr/>
        </p:nvSpPr>
        <p:spPr>
          <a:xfrm>
            <a:off x="4800600" y="1618488"/>
            <a:ext cx="320040" cy="3200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1636776"/>
            <a:ext cx="283464" cy="2834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39512" y="1600200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(Annex III): automated hiring = high-risk AI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7" name="Shape 19"/>
          <p:cNvSpPr/>
          <p:nvPr/>
        </p:nvSpPr>
        <p:spPr>
          <a:xfrm>
            <a:off x="4709160" y="2176272"/>
            <a:ext cx="4160520" cy="57607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800600" y="2286000"/>
            <a:ext cx="320040" cy="3200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304288"/>
            <a:ext cx="283464" cy="28346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239512" y="2267712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DSG/nDSG: legal basis for processing candidate data required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1" name="Shape 22"/>
          <p:cNvSpPr/>
          <p:nvPr/>
        </p:nvSpPr>
        <p:spPr>
          <a:xfrm>
            <a:off x="4709160" y="2843784"/>
            <a:ext cx="4160520" cy="57607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32" name="Shape 23"/>
          <p:cNvSpPr/>
          <p:nvPr/>
        </p:nvSpPr>
        <p:spPr>
          <a:xfrm>
            <a:off x="4800600" y="2953512"/>
            <a:ext cx="320040" cy="3200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971800"/>
            <a:ext cx="283464" cy="28346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39512" y="293522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explanation for rejected candidates must be guaranteed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5" name="Shape 25"/>
          <p:cNvSpPr/>
          <p:nvPr/>
        </p:nvSpPr>
        <p:spPr>
          <a:xfrm>
            <a:off x="4709160" y="3511296"/>
            <a:ext cx="4160520" cy="57607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36" name="Shape 26"/>
          <p:cNvSpPr/>
          <p:nvPr/>
        </p:nvSpPr>
        <p:spPr>
          <a:xfrm>
            <a:off x="4800600" y="3621024"/>
            <a:ext cx="320040" cy="320040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639312"/>
            <a:ext cx="283464" cy="283464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239512" y="3602736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 variability: human review of CV fields recommended in production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9" name="Shape 28"/>
          <p:cNvSpPr/>
          <p:nvPr/>
        </p:nvSpPr>
        <p:spPr>
          <a:xfrm>
            <a:off x="4709160" y="4178808"/>
            <a:ext cx="4160520" cy="57607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noFill/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40" name="Shape 29"/>
          <p:cNvSpPr/>
          <p:nvPr/>
        </p:nvSpPr>
        <p:spPr>
          <a:xfrm>
            <a:off x="4800600" y="4288536"/>
            <a:ext cx="320040" cy="32004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4306824"/>
            <a:ext cx="283464" cy="283464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5239512" y="4270248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DMN weights &amp; thresholds require validation by HR domain experts</a:t>
            </a:r>
            <a:endParaRPr lang="en-US" sz="10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FFC000"/>
          </a:solidFill>
          <a:ln w="12700">
            <a:noFill/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The future of</a:t>
            </a:r>
            <a:endParaRPr lang="en-US" sz="3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hiring is</a:t>
            </a:r>
            <a:endParaRPr lang="en-US" sz="3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automated.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760720" y="1371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Thank you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760720" y="2331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Ece Kaya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760720" y="27157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Furkan Aydin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60720" y="30998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Dominic Däster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0" y="348386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Keethan Nathan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1409</Words>
  <Application>Microsoft Office PowerPoint</Application>
  <PresentationFormat>Bildschirmpräsentation (16:9)</PresentationFormat>
  <Paragraphs>106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KEFD – Recruitment OS Pitch</dc:title>
  <dc:subject>PptxGenJS Presentation</dc:subject>
  <dc:creator>PptxGenJS</dc:creator>
  <cp:lastModifiedBy>Keethan Nathan (s)</cp:lastModifiedBy>
  <cp:revision>4</cp:revision>
  <dcterms:created xsi:type="dcterms:W3CDTF">2026-05-21T14:18:32Z</dcterms:created>
  <dcterms:modified xsi:type="dcterms:W3CDTF">2026-05-26T09:18:13Z</dcterms:modified>
</cp:coreProperties>
</file>