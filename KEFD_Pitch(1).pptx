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than Nathan (s)" userId="0f5bfc72-6e58-4b9d-b756-1f6026538ee5" providerId="ADAL" clId="{648DECDB-0F43-48AD-800F-5E7A0F5D00A3}"/>
    <pc:docChg chg="undo custSel modSld">
      <pc:chgData name="Keethan Nathan (s)" userId="0f5bfc72-6e58-4b9d-b756-1f6026538ee5" providerId="ADAL" clId="{648DECDB-0F43-48AD-800F-5E7A0F5D00A3}" dt="2026-05-22T07:17:21.841" v="21" actId="20577"/>
      <pc:docMkLst>
        <pc:docMk/>
      </pc:docMkLst>
      <pc:sldChg chg="modSp mod">
        <pc:chgData name="Keethan Nathan (s)" userId="0f5bfc72-6e58-4b9d-b756-1f6026538ee5" providerId="ADAL" clId="{648DECDB-0F43-48AD-800F-5E7A0F5D00A3}" dt="2026-05-22T07:17:21.841" v="21" actId="20577"/>
        <pc:sldMkLst>
          <pc:docMk/>
          <pc:sldMk cId="0" sldId="256"/>
        </pc:sldMkLst>
        <pc:spChg chg="mod">
          <ac:chgData name="Keethan Nathan (s)" userId="0f5bfc72-6e58-4b9d-b756-1f6026538ee5" providerId="ADAL" clId="{648DECDB-0F43-48AD-800F-5E7A0F5D00A3}" dt="2026-05-22T07:17:21.841" v="21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Keethan Nathan (s)" userId="0f5bfc72-6e58-4b9d-b756-1f6026538ee5" providerId="ADAL" clId="{648DECDB-0F43-48AD-800F-5E7A0F5D00A3}" dt="2026-05-22T07:05:37.962" v="18" actId="1076"/>
        <pc:sldMkLst>
          <pc:docMk/>
          <pc:sldMk cId="0" sldId="257"/>
        </pc:sldMkLst>
        <pc:spChg chg="mod">
          <ac:chgData name="Keethan Nathan (s)" userId="0f5bfc72-6e58-4b9d-b756-1f6026538ee5" providerId="ADAL" clId="{648DECDB-0F43-48AD-800F-5E7A0F5D00A3}" dt="2026-05-22T07:05:37.962" v="18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8:38.615" v="11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8:47.355" v="16" actId="20577"/>
          <ac:spMkLst>
            <pc:docMk/>
            <pc:sldMk cId="0" sldId="257"/>
            <ac:spMk id="20" creationId="{00000000-0000-0000-0000-000000000000}"/>
          </ac:spMkLst>
        </pc:spChg>
      </pc:sldChg>
      <pc:sldChg chg="delSp mod">
        <pc:chgData name="Keethan Nathan (s)" userId="0f5bfc72-6e58-4b9d-b756-1f6026538ee5" providerId="ADAL" clId="{648DECDB-0F43-48AD-800F-5E7A0F5D00A3}" dt="2026-05-22T07:06:18.722" v="19" actId="478"/>
        <pc:sldMkLst>
          <pc:docMk/>
          <pc:sldMk cId="0" sldId="258"/>
        </pc:sldMkLst>
        <pc:spChg chg="del">
          <ac:chgData name="Keethan Nathan (s)" userId="0f5bfc72-6e58-4b9d-b756-1f6026538ee5" providerId="ADAL" clId="{648DECDB-0F43-48AD-800F-5E7A0F5D00A3}" dt="2026-05-22T07:06:18.722" v="19" actId="478"/>
          <ac:spMkLst>
            <pc:docMk/>
            <pc:sldMk cId="0" sldId="258"/>
            <ac:spMk id="31" creationId="{00000000-0000-0000-0000-000000000000}"/>
          </ac:spMkLst>
        </pc:spChg>
      </pc:sldChg>
      <pc:sldChg chg="delSp modSp mod">
        <pc:chgData name="Keethan Nathan (s)" userId="0f5bfc72-6e58-4b9d-b756-1f6026538ee5" providerId="ADAL" clId="{648DECDB-0F43-48AD-800F-5E7A0F5D00A3}" dt="2026-05-22T06:55:52.933" v="8" actId="478"/>
        <pc:sldMkLst>
          <pc:docMk/>
          <pc:sldMk cId="0" sldId="263"/>
        </pc:sldMkLst>
        <pc:spChg chg="mod">
          <ac:chgData name="Keethan Nathan (s)" userId="0f5bfc72-6e58-4b9d-b756-1f6026538ee5" providerId="ADAL" clId="{648DECDB-0F43-48AD-800F-5E7A0F5D00A3}" dt="2026-05-22T06:54:57.665" v="0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21.159" v="4" actId="2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02.167" v="1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25.662" v="5" actId="20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08.206" v="2" actId="20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30.240" v="6" actId="20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14.176" v="3" actId="207"/>
          <ac:spMkLst>
            <pc:docMk/>
            <pc:sldMk cId="0" sldId="263"/>
            <ac:spMk id="28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39.128" v="7" actId="207"/>
          <ac:spMkLst>
            <pc:docMk/>
            <pc:sldMk cId="0" sldId="263"/>
            <ac:spMk id="29" creationId="{00000000-0000-0000-0000-000000000000}"/>
          </ac:spMkLst>
        </pc:spChg>
        <pc:spChg chg="del">
          <ac:chgData name="Keethan Nathan (s)" userId="0f5bfc72-6e58-4b9d-b756-1f6026538ee5" providerId="ADAL" clId="{648DECDB-0F43-48AD-800F-5E7A0F5D00A3}" dt="2026-05-22T06:55:52.933" v="8" actId="478"/>
          <ac:spMkLst>
            <pc:docMk/>
            <pc:sldMk cId="0" sldId="263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45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FC000"/>
          </a:solidFill>
          <a:ln w="12700">
            <a:solidFill>
              <a:srgbClr val="0F8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 err="1">
                <a:solidFill>
                  <a:srgbClr val="FFFFFF"/>
                </a:solidFill>
              </a:rPr>
              <a:t>Alpenblick</a:t>
            </a:r>
            <a:r>
              <a:rPr lang="en-US" sz="4400" b="1" dirty="0">
                <a:solidFill>
                  <a:srgbClr val="FFFFFF"/>
                </a:solidFill>
              </a:rPr>
              <a:t> </a:t>
            </a:r>
            <a:r>
              <a:rPr lang="en-US" sz="4400" b="1" dirty="0" err="1">
                <a:solidFill>
                  <a:srgbClr val="FFFFFF"/>
                </a:solidFill>
              </a:rPr>
              <a:t>Consuting</a:t>
            </a:r>
            <a:r>
              <a:rPr lang="en-US" sz="4400" b="1" dirty="0">
                <a:solidFill>
                  <a:srgbClr val="FFFFFF"/>
                </a:solidFill>
              </a:rPr>
              <a:t> AG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20624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job posting</a:t>
            </a:r>
            <a:endParaRPr lang="en-US" sz="3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to onboarding -</a:t>
            </a:r>
            <a:endParaRPr lang="en-US" sz="3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automated.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20624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Alpenblick Consulting AG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4663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0F4F4"/>
                </a:solidFill>
              </a:rPr>
              <a:t>Ece Kaya · Furkan Aydin · Dominic Däster · Keethan Nathan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600" y="36576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000"/>
                </a:solidFill>
              </a:rPr>
              <a:t>Hiring is Stuck in the Past</a:t>
            </a:r>
            <a:endParaRPr lang="en-US" sz="300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Manual everything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Applications gathered by hand, CVs screened with gut feeling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Email chaos</a:t>
            </a:r>
          </a:p>
        </p:txBody>
      </p:sp>
      <p:sp>
        <p:nvSpPr>
          <p:cNvPr id="11" name="Text 9"/>
          <p:cNvSpPr/>
          <p:nvPr/>
        </p:nvSpPr>
        <p:spPr>
          <a:xfrm>
            <a:off x="4800600" y="180136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Invitations, cancellations, contracts. All written individually</a:t>
            </a:r>
          </a:p>
        </p:txBody>
      </p:sp>
      <p:sp>
        <p:nvSpPr>
          <p:cNvPr id="12" name="Shape 10"/>
          <p:cNvSpPr/>
          <p:nvPr/>
        </p:nvSpPr>
        <p:spPr>
          <a:xfrm>
            <a:off x="228600" y="251460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No structure</a:t>
            </a:r>
          </a:p>
        </p:txBody>
      </p:sp>
      <p:sp>
        <p:nvSpPr>
          <p:cNvPr id="14" name="Text 12"/>
          <p:cNvSpPr/>
          <p:nvPr/>
        </p:nvSpPr>
        <p:spPr>
          <a:xfrm>
            <a:off x="365760" y="289864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Interviews and assessments lack standardised evaluation criteria</a:t>
            </a:r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257860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Slow onboarding</a:t>
            </a:r>
          </a:p>
        </p:txBody>
      </p:sp>
      <p:sp>
        <p:nvSpPr>
          <p:cNvPr id="17" name="Text 15"/>
          <p:cNvSpPr/>
          <p:nvPr/>
        </p:nvSpPr>
        <p:spPr>
          <a:xfrm>
            <a:off x="4800600" y="289864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IT access, Slack, tasks - coordinated manually every single time</a:t>
            </a:r>
          </a:p>
        </p:txBody>
      </p:sp>
      <p:sp>
        <p:nvSpPr>
          <p:cNvPr id="18" name="Shape 16"/>
          <p:cNvSpPr/>
          <p:nvPr/>
        </p:nvSpPr>
        <p:spPr>
          <a:xfrm>
            <a:off x="228600" y="361188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367588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Inconsistency</a:t>
            </a:r>
          </a:p>
        </p:txBody>
      </p:sp>
      <p:sp>
        <p:nvSpPr>
          <p:cNvPr id="20" name="Text 18"/>
          <p:cNvSpPr/>
          <p:nvPr/>
        </p:nvSpPr>
        <p:spPr>
          <a:xfrm>
            <a:off x="365760" y="399592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Two recruiters, two outcomes - bias creeps in at every stage</a:t>
            </a:r>
          </a:p>
        </p:txBody>
      </p:sp>
      <p:sp>
        <p:nvSpPr>
          <p:cNvPr id="21" name="Shape 19"/>
          <p:cNvSpPr/>
          <p:nvPr/>
        </p:nvSpPr>
        <p:spPr>
          <a:xfrm>
            <a:off x="4663440" y="3630168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00600" y="367588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Repetitive admin</a:t>
            </a:r>
          </a:p>
        </p:txBody>
      </p:sp>
      <p:sp>
        <p:nvSpPr>
          <p:cNvPr id="23" name="Text 21"/>
          <p:cNvSpPr/>
          <p:nvPr/>
        </p:nvSpPr>
        <p:spPr>
          <a:xfrm>
            <a:off x="4800600" y="399592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Valuable HR time consumed by copy-paste and form-filling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411481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C000"/>
                </a:solidFill>
              </a:rPr>
              <a:t>Meet Sarah.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0F4F4"/>
                </a:solidFill>
              </a:rPr>
              <a:t>Strategy Consultant · 4 years XP · looking for her next challenge.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74520" y="2286000"/>
            <a:ext cx="2286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Applies online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System auto-receives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&amp; scores her CV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011680"/>
            <a:ext cx="548640" cy="54864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5603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1880" y="2286000"/>
            <a:ext cx="2286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01168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Gets an invite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Calendly link lands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in her inbox — she picks a slot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2011680"/>
            <a:ext cx="548640" cy="54864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2976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49240" y="2286000"/>
            <a:ext cx="2286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74904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Interviews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Structured form,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scored in real-time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2011680"/>
            <a:ext cx="548640" cy="54864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3" name="Text 21"/>
          <p:cNvSpPr/>
          <p:nvPr/>
        </p:nvSpPr>
        <p:spPr>
          <a:xfrm>
            <a:off x="60350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86600" y="2286000"/>
            <a:ext cx="2286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48640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Offer &amp; sign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Auto-generated contract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+ DocuSign link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0" y="2011680"/>
            <a:ext cx="548640" cy="54864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7724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2376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1 ready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Google account, Slack,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tasks — all waiting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600" y="425269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000"/>
                </a:solidFill>
              </a:rPr>
              <a:t>End-to-End Recruitment, Automated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92315" y="1417320"/>
            <a:ext cx="2834640" cy="3383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9475" y="15544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C000"/>
                </a:solidFill>
              </a:rPr>
              <a:t>Smart Screening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475" y="2212848"/>
            <a:ext cx="128016" cy="128016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39787" y="217627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AI scores every CV 0–100</a:t>
            </a:r>
          </a:p>
        </p:txBody>
      </p:sp>
      <p:sp>
        <p:nvSpPr>
          <p:cNvPr id="11" name="Shape 9"/>
          <p:cNvSpPr/>
          <p:nvPr/>
        </p:nvSpPr>
        <p:spPr>
          <a:xfrm>
            <a:off x="329475" y="2871216"/>
            <a:ext cx="128016" cy="128016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39787" y="283464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Defined, weighted criteria</a:t>
            </a:r>
          </a:p>
        </p:txBody>
      </p:sp>
      <p:sp>
        <p:nvSpPr>
          <p:cNvPr id="13" name="Shape 11"/>
          <p:cNvSpPr/>
          <p:nvPr/>
        </p:nvSpPr>
        <p:spPr>
          <a:xfrm>
            <a:off x="329475" y="3529584"/>
            <a:ext cx="128016" cy="128016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39787" y="349300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Zero recruiter bias</a:t>
            </a:r>
          </a:p>
        </p:txBody>
      </p:sp>
      <p:sp>
        <p:nvSpPr>
          <p:cNvPr id="15" name="Shape 13"/>
          <p:cNvSpPr/>
          <p:nvPr/>
        </p:nvSpPr>
        <p:spPr>
          <a:xfrm>
            <a:off x="3209835" y="1417320"/>
            <a:ext cx="2834640" cy="3383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46995" y="15544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C000"/>
                </a:solidFill>
              </a:rPr>
              <a:t>Structured Hiring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46995" y="2212848"/>
            <a:ext cx="128016" cy="128016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557307" y="217627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Digital interview forms</a:t>
            </a:r>
          </a:p>
        </p:txBody>
      </p:sp>
      <p:sp>
        <p:nvSpPr>
          <p:cNvPr id="20" name="Shape 18"/>
          <p:cNvSpPr/>
          <p:nvPr/>
        </p:nvSpPr>
        <p:spPr>
          <a:xfrm>
            <a:off x="3346995" y="2871216"/>
            <a:ext cx="128016" cy="128016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557307" y="283464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Standardised scoring</a:t>
            </a:r>
          </a:p>
        </p:txBody>
      </p:sp>
      <p:sp>
        <p:nvSpPr>
          <p:cNvPr id="22" name="Shape 20"/>
          <p:cNvSpPr/>
          <p:nvPr/>
        </p:nvSpPr>
        <p:spPr>
          <a:xfrm>
            <a:off x="3346995" y="3529584"/>
            <a:ext cx="128016" cy="128016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557307" y="349300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Comparable candidates</a:t>
            </a:r>
          </a:p>
        </p:txBody>
      </p:sp>
      <p:sp>
        <p:nvSpPr>
          <p:cNvPr id="24" name="Shape 22"/>
          <p:cNvSpPr/>
          <p:nvPr/>
        </p:nvSpPr>
        <p:spPr>
          <a:xfrm>
            <a:off x="6227355" y="1417320"/>
            <a:ext cx="2834640" cy="3383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364515" y="15544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C000"/>
                </a:solidFill>
              </a:rPr>
              <a:t>Auto Onboarding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64515" y="2212848"/>
            <a:ext cx="128016" cy="128016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574827" y="217627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Google Workspace setup</a:t>
            </a:r>
          </a:p>
        </p:txBody>
      </p:sp>
      <p:sp>
        <p:nvSpPr>
          <p:cNvPr id="29" name="Shape 27"/>
          <p:cNvSpPr/>
          <p:nvPr/>
        </p:nvSpPr>
        <p:spPr>
          <a:xfrm>
            <a:off x="6364515" y="2871216"/>
            <a:ext cx="128016" cy="128016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574827" y="283464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Slack + Asana tasks</a:t>
            </a:r>
          </a:p>
        </p:txBody>
      </p:sp>
      <p:sp>
        <p:nvSpPr>
          <p:cNvPr id="31" name="Shape 29"/>
          <p:cNvSpPr/>
          <p:nvPr/>
        </p:nvSpPr>
        <p:spPr>
          <a:xfrm>
            <a:off x="6364515" y="3529584"/>
            <a:ext cx="128016" cy="128016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574827" y="349300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Calendar meetings booked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600" y="35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000"/>
                </a:solidFill>
              </a:rPr>
              <a:t>From Manual to Automated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4069080" cy="3474720"/>
          </a:xfrm>
          <a:prstGeom prst="rect">
            <a:avLst/>
          </a:prstGeom>
          <a:solidFill>
            <a:srgbClr val="FFF3F3"/>
          </a:solidFill>
          <a:ln w="1270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5252"/>
                </a:solidFill>
              </a:rPr>
              <a:t>AS-IS  ·  Today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3333"/>
                </a:solidFill>
              </a:rPr>
              <a:t>✕  HR Manager monitors web portal manually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3333"/>
                </a:solidFill>
              </a:rPr>
              <a:t>✕  Recruiter screens CVs by personal judgment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87121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3333"/>
                </a:solidFill>
              </a:rPr>
              <a:t>✕  Hiring Manager emails interview invites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3467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3333"/>
                </a:solidFill>
              </a:rPr>
              <a:t>✕  Feedback captured in personal notes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822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3333"/>
                </a:solidFill>
              </a:rPr>
              <a:t>✕  Contract typed in Word, sent by email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2976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3333"/>
                </a:solidFill>
              </a:rPr>
              <a:t>✕  Onboarding coordinated step-by-step by hand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4069080" cy="3474720"/>
          </a:xfrm>
          <a:prstGeom prst="rect">
            <a:avLst/>
          </a:prstGeom>
          <a:solidFill>
            <a:srgbClr val="F0FBF8"/>
          </a:solidFill>
          <a:ln w="12700">
            <a:solidFill>
              <a:srgbClr val="BBDF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98348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8A8A"/>
                </a:solidFill>
              </a:rPr>
              <a:t>TO-BE  ·  Our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9202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6B5A"/>
                </a:solidFill>
              </a:rPr>
              <a:t>✓  Applications auto-received &amp; data extracted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23957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6B5A"/>
                </a:solidFill>
              </a:rPr>
              <a:t>✓  Python script scores CVs objectively (0–100)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87121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6B5A"/>
                </a:solidFill>
              </a:rPr>
              <a:t>✓  Calendly link sent automatically to candidates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33467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6B5A"/>
                </a:solidFill>
              </a:rPr>
              <a:t>✓  Digital structured forms capture all scores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822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6B5A"/>
                </a:solidFill>
              </a:rPr>
              <a:t>✓  Contract auto-generated from template + DocuSign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42976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6B5A"/>
                </a:solidFill>
              </a:rPr>
              <a:t>✓  Full onboarding workflow triggered automatically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6052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8A8A"/>
                </a:solidFill>
              </a:rPr>
              <a:t>→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3657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000"/>
                </a:solidFill>
              </a:rPr>
              <a:t>AI-Powered CV Scoring</a:t>
            </a:r>
            <a:endParaRPr lang="en-US" sz="3000" dirty="0">
              <a:solidFill>
                <a:srgbClr val="FFC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2011680" cy="2011680"/>
          </a:xfrm>
          <a:prstGeom prst="ellipse">
            <a:avLst/>
          </a:prstGeom>
          <a:solidFill>
            <a:srgbClr val="1A3060"/>
          </a:solidFill>
          <a:ln w="1016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C000"/>
                </a:solidFill>
              </a:rPr>
              <a:t>87</a:t>
            </a: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F4F4"/>
                </a:solidFill>
              </a:rPr>
              <a:t>/ 100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Sarah's CV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Years of Experience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737360"/>
            <a:ext cx="4754880" cy="2011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840480" y="1737360"/>
            <a:ext cx="4279392" cy="201168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641080" y="17099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F4F4"/>
                </a:solidFill>
              </a:rPr>
              <a:t>90%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2194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Education Level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2514600"/>
            <a:ext cx="4754880" cy="2011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840480" y="2514600"/>
            <a:ext cx="3803904" cy="201168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641080" y="2487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F4F4"/>
                </a:solidFill>
              </a:rPr>
              <a:t>80%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971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Language Skills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3291840"/>
            <a:ext cx="4754880" cy="2011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840480" y="3291840"/>
            <a:ext cx="4517136" cy="201168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641080" y="32644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F4F4"/>
                </a:solidFill>
              </a:rPr>
              <a:t>95%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Domain Fit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0" y="4069080"/>
            <a:ext cx="4754880" cy="2011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840480" y="4069080"/>
            <a:ext cx="3566160" cy="201168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641080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F4F4"/>
                </a:solidFill>
              </a:rPr>
              <a:t>75%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D0F4F4"/>
                </a:solidFill>
              </a:rPr>
              <a:t>Defined, weighted criteria. Same standard for every applicant.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D0F4F4"/>
                </a:solidFill>
              </a:rPr>
              <a:t>No bias. No guessing. Instant decision.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37258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000"/>
                </a:solidFill>
              </a:rPr>
              <a:t>One Signature. Full Onboarding.</a:t>
            </a:r>
            <a:endParaRPr lang="en-US" sz="3000" dirty="0">
              <a:solidFill>
                <a:srgbClr val="FFC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0F4F4"/>
                </a:solidFill>
              </a:rPr>
              <a:t>The moment a signed contract arrives, KEFD fires automatically: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554480" cy="1828800"/>
          </a:xfrm>
          <a:prstGeom prst="rect">
            <a:avLst/>
          </a:prstGeom>
          <a:solidFill>
            <a:srgbClr val="0F2A4A"/>
          </a:solidFill>
          <a:ln w="12700">
            <a:solidFill>
              <a:srgbClr val="FFC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Workspace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New employee account created instantly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828800"/>
            <a:ext cx="1554480" cy="1828800"/>
          </a:xfrm>
          <a:prstGeom prst="rect">
            <a:avLst/>
          </a:prstGeom>
          <a:solidFill>
            <a:srgbClr val="0F2A4A"/>
          </a:solidFill>
          <a:ln w="12700">
            <a:solidFill>
              <a:srgbClr val="FFC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FFC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0312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Welcome E-mail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999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Personalised welcome sent automatically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828800"/>
            <a:ext cx="1554480" cy="1828800"/>
          </a:xfrm>
          <a:prstGeom prst="rect">
            <a:avLst/>
          </a:prstGeom>
          <a:solidFill>
            <a:srgbClr val="0F2A4A"/>
          </a:solidFill>
          <a:ln w="12700">
            <a:solidFill>
              <a:srgbClr val="FFC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FFC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4904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4048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Slack Notification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999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Team informed the moment they join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828800"/>
            <a:ext cx="1554480" cy="1828800"/>
          </a:xfrm>
          <a:prstGeom prst="rect">
            <a:avLst/>
          </a:prstGeom>
          <a:solidFill>
            <a:srgbClr val="0F2A4A"/>
          </a:solidFill>
          <a:ln w="12700">
            <a:solidFill>
              <a:srgbClr val="FFC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FFC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7784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Asana Tasks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999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All onboarding tasks created &amp; assigned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828800"/>
            <a:ext cx="1554480" cy="1828800"/>
          </a:xfrm>
          <a:prstGeom prst="rect">
            <a:avLst/>
          </a:prstGeom>
          <a:solidFill>
            <a:srgbClr val="0F2A4A"/>
          </a:solidFill>
          <a:ln w="12700">
            <a:solidFill>
              <a:srgbClr val="FFC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FFC0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2376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1520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Calendar Meetings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2999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D0F4F4"/>
                </a:solidFill>
              </a:rPr>
              <a:t>Intro meetings scheduled in advance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Zero manual steps. Every new hire gets the same seamless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600" y="390579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000"/>
                </a:solidFill>
              </a:rPr>
              <a:t>The Numbers Speak for Themselves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011680" cy="25603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28600" y="1536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" y="20299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C000"/>
                </a:solidFill>
              </a:rPr>
              <a:t>80%</a:t>
            </a:r>
            <a:endParaRPr lang="en-US" sz="3400" dirty="0">
              <a:solidFill>
                <a:srgbClr val="FFC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Less admin time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1"/>
                </a:solidFill>
              </a:rPr>
              <a:t>HR team freed for strategic work</a:t>
            </a:r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2011680" cy="25603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441448" y="1536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41448" y="20299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C000"/>
                </a:solidFill>
              </a:rPr>
              <a:t>5 min</a:t>
            </a:r>
            <a:endParaRPr lang="en-US" sz="3400" dirty="0">
              <a:solidFill>
                <a:srgbClr val="FFC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32888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To first contact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32888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1"/>
                </a:solidFill>
              </a:rPr>
              <a:t>After application received</a:t>
            </a:r>
          </a:p>
        </p:txBody>
      </p:sp>
      <p:sp>
        <p:nvSpPr>
          <p:cNvPr id="18" name="Shape 16"/>
          <p:cNvSpPr/>
          <p:nvPr/>
        </p:nvSpPr>
        <p:spPr>
          <a:xfrm>
            <a:off x="4654296" y="1371600"/>
            <a:ext cx="2011680" cy="25603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54296" y="1536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54296" y="20299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C000"/>
                </a:solidFill>
              </a:rPr>
              <a:t>100%</a:t>
            </a:r>
            <a:endParaRPr lang="en-US" sz="3400" dirty="0">
              <a:solidFill>
                <a:srgbClr val="FFC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45736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Consistent scoring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45736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1"/>
                </a:solidFill>
              </a:rPr>
              <a:t>Every CV, same criteria</a:t>
            </a:r>
          </a:p>
        </p:txBody>
      </p:sp>
      <p:sp>
        <p:nvSpPr>
          <p:cNvPr id="24" name="Shape 22"/>
          <p:cNvSpPr/>
          <p:nvPr/>
        </p:nvSpPr>
        <p:spPr>
          <a:xfrm>
            <a:off x="6867144" y="1371600"/>
            <a:ext cx="2011680" cy="25603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67144" y="1536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67144" y="20299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C000"/>
                </a:solidFill>
              </a:rPr>
              <a:t>Day 1</a:t>
            </a:r>
            <a:endParaRPr lang="en-US" sz="3400" dirty="0">
              <a:solidFill>
                <a:srgbClr val="FFC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958584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Onboarding ready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58584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1"/>
                </a:solidFill>
              </a:rPr>
              <a:t>IT, Slack, tasks — all 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463040" cy="256032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TECHNOLOGY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0"/>
                </a:solidFill>
              </a:rPr>
              <a:t>Built on Tools Teams Already Use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54864" cy="658368"/>
          </a:xfrm>
          <a:prstGeom prst="rect">
            <a:avLst/>
          </a:prstGeom>
          <a:solidFill>
            <a:srgbClr val="FC5D0E"/>
          </a:solidFill>
          <a:ln w="12700">
            <a:solidFill>
              <a:srgbClr val="FC5D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408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Camunda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Process orchestration engine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371600"/>
            <a:ext cx="54864" cy="65836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91840" y="1408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AI CV scoring 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54864" cy="658368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217920" y="1408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Google Sheets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Structured applicant data store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240280"/>
            <a:ext cx="54864" cy="658368"/>
          </a:xfrm>
          <a:prstGeom prst="rect">
            <a:avLst/>
          </a:prstGeom>
          <a:solidFill>
            <a:srgbClr val="D44638"/>
          </a:solidFill>
          <a:ln w="12700">
            <a:solidFill>
              <a:srgbClr val="D446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22768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Gmail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Automated candidate communication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240280"/>
            <a:ext cx="54864" cy="658368"/>
          </a:xfrm>
          <a:prstGeom prst="rect">
            <a:avLst/>
          </a:prstGeom>
          <a:solidFill>
            <a:srgbClr val="006BFF"/>
          </a:solidFill>
          <a:ln w="12700">
            <a:solidFill>
              <a:srgbClr val="006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91840" y="22768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Calendly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Self-service interview scheduling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2240280"/>
            <a:ext cx="54864" cy="65836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217920" y="22768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DocuSign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Digital contract signing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108960"/>
            <a:ext cx="54864" cy="6583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5760" y="3145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Google Docs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438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Contract template engine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3108960"/>
            <a:ext cx="54864" cy="658368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291840" y="3145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Slack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438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Team notifications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3108960"/>
            <a:ext cx="54864" cy="658368"/>
          </a:xfrm>
          <a:prstGeom prst="rect">
            <a:avLst/>
          </a:prstGeom>
          <a:solidFill>
            <a:srgbClr val="F06A6A"/>
          </a:solidFill>
          <a:ln w="12700">
            <a:solidFill>
              <a:srgbClr val="F06A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217920" y="3145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Asana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3438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Onboarding task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The future of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hiring is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automated.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dirty="0">
                <a:solidFill>
                  <a:srgbClr val="D0F4F4"/>
                </a:solidFill>
              </a:rPr>
              <a:t>KEFD proves it's possible —</a:t>
            </a:r>
            <a:endParaRPr lang="en-US" sz="16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00" dirty="0">
                <a:solidFill>
                  <a:srgbClr val="D0F4F4"/>
                </a:solidFill>
              </a:rPr>
              <a:t>today, not tomorrow.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60720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Let's talk.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76072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Ece Kaya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2715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Furkan Aydin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Dominic Däster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3483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Keethan Nathan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F4F4"/>
                </a:solidFill>
              </a:rPr>
              <a:t>FHNW ·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3931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0F8A8A">
                    <a:alpha val="20000"/>
                  </a:srgbClr>
                </a:solidFill>
              </a:rPr>
              <a:t>KEFD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Bildschirmpräsentation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KEFD – Recruitment OS Pitch</dc:title>
  <dc:subject>PptxGenJS Presentation</dc:subject>
  <dc:creator>PptxGenJS</dc:creator>
  <cp:lastModifiedBy>Keethan Nathan (s)</cp:lastModifiedBy>
  <cp:revision>2</cp:revision>
  <dcterms:created xsi:type="dcterms:W3CDTF">2026-05-21T14:18:32Z</dcterms:created>
  <dcterms:modified xsi:type="dcterms:W3CDTF">2026-05-22T07:17:28Z</dcterms:modified>
</cp:coreProperties>
</file>